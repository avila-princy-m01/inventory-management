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JetBrains Mono"/>
              </a:rPr>
              <a:t>PROBLEM STATEMENT 5 · INVENTORY CORRIDOR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111111"/>
                </a:solidFill>
                <a:latin typeface="Outfit"/>
              </a:rPr>
              <a:t>From Inbox Noise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111111"/>
                </a:solidFill>
                <a:latin typeface="Outfit"/>
              </a:rPr>
              <a:t>to Strategic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20624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11111"/>
                </a:solidFill>
                <a:latin typeface="Outfit"/>
              </a:rPr>
              <a:t>An autonomous, deterministic corridor-monitoring prototype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JetBrains Mono"/>
              </a:rPr>
              <a:t>Team Cipher · Amity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THE PROBLEM WE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Outfit"/>
              </a:rPr>
              <a:t>76,440 alerts. 4,029 real stock-outs.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66666"/>
                </a:solidFill>
                <a:latin typeface="Outfit"/>
              </a:rPr>
              <a:t>That is 19 false alarms for every real event — a 5.27% precision rule.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47472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111111"/>
                </a:solidFill>
                <a:latin typeface="JetBrains Mono"/>
              </a:rPr>
              <a:t>76,440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JetBrains Mono"/>
              </a:rPr>
              <a:t>NAIVE THRESHOLD ALERTS /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19" y="3977639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111111"/>
                </a:solidFill>
                <a:latin typeface="JetBrains Mono"/>
              </a:rPr>
              <a:t>4,029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JetBrains Mono"/>
              </a:rPr>
              <a:t>ACTUAL STOCK-OUT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8" y="3977639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E61919"/>
                </a:solidFill>
                <a:latin typeface="JetBrains Mono"/>
              </a:rPr>
              <a:t>5.27%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JetBrains Mono"/>
              </a:rPr>
              <a:t>PRECISION OF THE BREACH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Outfit"/>
              </a:rPr>
              <a:t>Detection is trivial. Prioritisation is the engineering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OUR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6600" b="1">
                <a:solidFill>
                  <a:srgbClr val="111111"/>
                </a:solidFill>
                <a:latin typeface="Outfit"/>
              </a:rPr>
              <a:t>76,440  →  15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666666"/>
                </a:solidFill>
                <a:latin typeface="JetBrains Mono"/>
              </a:rPr>
              <a:t>noise alerts                                   ranked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61188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11111"/>
                </a:solidFill>
                <a:latin typeface="Outfit"/>
              </a:rPr>
              <a:t>Every signal carries: root cause · exact recommended quantity · capital at risk · one-click GxP approval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Outfit"/>
              </a:rPr>
              <a:t>215,280 operational SKU-weeks evaluated on every upload — nothing hardcoded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HOW IT WORKS — FIVE DETERMINISTIC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914400" cy="841248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90472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JetBrains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399032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111"/>
                </a:solidFill>
                <a:latin typeface="Outfit"/>
              </a:rPr>
              <a:t>INGEST &amp; VALIDATE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Outfit"/>
              </a:rPr>
              <a:t>Weekly extract; data quality surfaced, not absorbed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13432"/>
            <a:ext cx="914400" cy="841248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7802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JetBrains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86584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111"/>
                </a:solidFill>
                <a:latin typeface="Outfit"/>
              </a:rPr>
              <a:t>PROJECT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Outfit"/>
              </a:rPr>
              <a:t>52-week stock trajectory on the verified recursion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00984"/>
            <a:ext cx="914400" cy="841248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65576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JetBrains Mon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374136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111"/>
                </a:solidFill>
                <a:latin typeface="Outfit"/>
              </a:rPr>
              <a:t>CLASSIFY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Outfit"/>
              </a:rPr>
              <a:t>Breach type + severity, persistence gates, de-duplication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88536"/>
            <a:ext cx="914400" cy="841248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53128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JetBrains Mono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361688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111"/>
                </a:solidFill>
                <a:latin typeface="Outfit"/>
              </a:rPr>
              <a:t>DIAGNOSE &amp; DOSE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Outfit"/>
              </a:rPr>
              <a:t>Root cause + exact recommended quantity at the lead-time boundary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276088"/>
            <a:ext cx="914400" cy="841248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JetBrains Mono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34924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11111"/>
                </a:solidFill>
                <a:latin typeface="Outfit"/>
              </a:rPr>
              <a:t>DELIVER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Outfit"/>
              </a:rPr>
              <a:t>Ranked queue · email · Monday briefing · deck · GxP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WE DID NOT REPORT A KPI — WE DEFINED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Outfit"/>
              </a:rPr>
              <a:t>Corridor Health Index (CHI)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666666"/>
                </a:solidFill>
                <a:latin typeface="Outfit"/>
              </a:rPr>
              <a:t>One 0–100 leading measure of latent network stress — the Corridor Health KPI
the mentors confirmed does not yet exist in their reporting suite.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20040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566160"/>
            <a:ext cx="128016" cy="658368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STOCK-OUT PENALTY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Outfit"/>
              </a:rPr>
              <a:t>projected inventory below the safety floor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07408"/>
            <a:ext cx="128016" cy="658368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425696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UNCONFIRMED-SUPPLY RISK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Outfit"/>
              </a:rPr>
              <a:t>trajectories resting on unconfirmed upstream orders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48656"/>
            <a:ext cx="128016" cy="658368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66944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LEAD-TIME CLIFF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Outfit"/>
              </a:rPr>
              <a:t>markets where recovery arrives too late to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JetBrains Mono"/>
              </a:rPr>
              <a:t>Benchmark network: CHI 86.8 vs contractual OTIF 98.5 — leading vs lagging, recomputed on every upload.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MEASURED, NOT CLAIMED — GROUND TRUTH FROM THE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5212080" cy="20574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72768"/>
            <a:ext cx="4663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11111"/>
                </a:solidFill>
                <a:latin typeface="JetBrains Mono"/>
              </a:rPr>
              <a:t>61.5%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66666"/>
                </a:solidFill>
                <a:latin typeface="JetBrains Mono"/>
              </a:rPr>
              <a:t>QUEUE MATURATION (UNDERSTOCK SIDE)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Outfit"/>
              </a:rPr>
              <a:t>8 of 13 signals' trajectories reach a real stock-out · 5.32× random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371600"/>
            <a:ext cx="5212080" cy="20574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72768"/>
            <a:ext cx="4663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11111"/>
                </a:solidFill>
                <a:latin typeface="JetBrains Mono"/>
              </a:rPr>
              <a:t>80.0%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66666"/>
                </a:solidFill>
                <a:latin typeface="JetBrains Mono"/>
              </a:rPr>
              <a:t>RANKING VALIDATION · TOP-15 PRECISION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Outfit"/>
              </a:rPr>
              <a:t>week-1 breach episodes · 6.96× base rate · monotone dose-response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212080" cy="20574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4663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11111"/>
                </a:solidFill>
                <a:latin typeface="JetBrains Mono"/>
              </a:rPr>
              <a:t>ρ=-0.512, p=0.0244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66666"/>
                </a:solidFill>
                <a:latin typeface="JetBrains Mono"/>
              </a:rPr>
              <a:t>CHI FALSIFICATION TEST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Outfit"/>
              </a:rPr>
              <a:t>15 region/brand cuts · lower CHI ⇒ more realized stock-outs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657600"/>
            <a:ext cx="5212080" cy="20574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858768"/>
            <a:ext cx="4663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11111"/>
                </a:solidFill>
                <a:latin typeface="JetBrains Mono"/>
              </a:rPr>
              <a:t>100.0%*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66666"/>
                </a:solidFill>
                <a:latin typeface="JetBrains Mono"/>
              </a:rPr>
              <a:t>EARLY-WARNING CAPTURE (*STRUCTURAL)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Outfit"/>
              </a:rPr>
              <a:t>breach-before-stockout is guaranteed by construction — disclosed, not claimed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JetBrains Mono"/>
              </a:rPr>
              <a:t>Method notes ship inside the payload — every figure on screen traces to its definition.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6000" b="1">
                <a:solidFill>
                  <a:srgbClr val="F4F4F0"/>
                </a:solidFill>
                <a:latin typeface="Outfit"/>
              </a:rPr>
              <a:t>LIVE DEMO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F4F4F0"/>
                </a:solidFill>
                <a:latin typeface="Outfit"/>
              </a:rPr>
              <a:t>Judge's own workbook uploaded · every number recomputed · benchmark restored in one click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470916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YOUR GUIDANCE, DELIVERED — LINE BY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Top 10–20 critical SKUs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25880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exactly 15, PRS-ranked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37944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Email channel with the week's top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84248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data-driven digest, zero hardcoded figures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96312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42616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Exact mitigation quantities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42616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corridor midpoint − projected inventory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00984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14-day lead time, overridable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00984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per-market settings panel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13048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59352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4wk overstock / 5wk understock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59352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configurable persistence parameters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71416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Root-cause attribution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17720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demand vs supply vs stale master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29784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76088"/>
            <a:ext cx="5394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Outfit"/>
              </a:rPr>
              <a:t>Human-in-the-loop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276088"/>
            <a:ext cx="5486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Outfit"/>
              </a:rPr>
              <a:t>→  system recommends · planner decides · overrides logged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88152"/>
            <a:ext cx="10972800" cy="9525"/>
          </a:xfrm>
          <a:prstGeom prst="rect">
            <a:avLst/>
          </a:prstGeom>
          <a:solidFill>
            <a:srgbClr val="D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66666"/>
                </a:solidFill>
                <a:latin typeface="JetBrains Mono"/>
              </a:rPr>
              <a:t>BUILT FOR A REGULATED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11111"/>
                </a:solidFill>
                <a:latin typeface="Outfit"/>
              </a:rPr>
              <a:t>Trust is a feature.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666666"/>
                </a:solidFill>
                <a:latin typeface="Outfit"/>
              </a:rPr>
              <a:t>Deterministic engine · zero-hallucination synthesis · 21 CFR Part 11 awareness.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063240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3657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JetBrains Mono"/>
              </a:rPr>
              <a:t>37 + 74 + 28 + 10 + 9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JetBrains Mono"/>
              </a:rPr>
              <a:t>AUTOMATED TESTS, ALL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19" y="3474720"/>
            <a:ext cx="3657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JetBrains Mono"/>
              </a:rPr>
              <a:t>100%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JetBrains Mono"/>
              </a:rPr>
              <a:t>DETERMINISTIC: SAME INPUT → SAME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58" y="3474720"/>
            <a:ext cx="3657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JetBrains Mono"/>
              </a:rPr>
              <a:t>PERSISTENT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JetBrains Mono"/>
              </a:rPr>
              <a:t>GxP AUDIT LEDGER SURVIVES RELOADS &amp; RESTARTS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66666"/>
                </a:solidFill>
                <a:latin typeface="Outfit"/>
              </a:rPr>
              <a:t>We audited our own alarm before a judge could: the naive rule's 100% recall is an algebraic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Outfit"/>
              </a:rPr>
              <a:t>identity, so we publish precision, capture and warning horizon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Outfit"/>
              </a:rPr>
              <a:t>The filter your planners asked for,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E61919"/>
                </a:solidFill>
                <a:latin typeface="Outfit"/>
              </a:rPr>
              <a:t>with the receipts attached.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977639"/>
            <a:ext cx="2011680" cy="38100"/>
          </a:xfrm>
          <a:prstGeom prst="rect">
            <a:avLst/>
          </a:prstGeom>
          <a:solidFill>
            <a:srgbClr val="E6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11111"/>
                </a:solidFill>
                <a:latin typeface="Outfit"/>
              </a:rPr>
              <a:t>76,440 alerts in. 15 ranked, explained, signed-for signals out.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JetBrains Mono"/>
              </a:rPr>
              <a:t>Team Cipher · Amity University · Novo Nordisk GBS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TEAM CIPHER · NOVO NORDISK GBS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